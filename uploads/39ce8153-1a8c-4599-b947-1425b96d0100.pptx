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Montserrat"/>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Montserrat-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082f7ebad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082f7ebad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082f7ebad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082f7ebad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15ecb1481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15ecb1481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15ecb1481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15ecb1481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15ecb1481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15ecb1481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15ecb1481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15ecb1481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1610f2d53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1610f2d53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1610f2d53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1610f2d53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15ecb1481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15ecb1481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181b76e91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181b76e91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11265317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11265317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600">
              <a:solidFill>
                <a:srgbClr val="99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0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s://docs.spring.io/spring-security/reference/servlet/authentication/passwords/in-memory.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s://github.com/jlkesh/pdp_online_java_lessons/blob/main/interviewquestions/8-module.md" TargetMode="External"/><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pic>
        <p:nvPicPr>
          <p:cNvPr id="55" name="Google Shape;55;p13"/>
          <p:cNvPicPr preferRelativeResize="0"/>
          <p:nvPr/>
        </p:nvPicPr>
        <p:blipFill rotWithShape="1">
          <a:blip r:embed="rId4">
            <a:alphaModFix/>
          </a:blip>
          <a:srcRect b="32565" l="0" r="0" t="31886"/>
          <a:stretch/>
        </p:blipFill>
        <p:spPr>
          <a:xfrm>
            <a:off x="865900" y="1676898"/>
            <a:ext cx="7412198" cy="1756100"/>
          </a:xfrm>
          <a:prstGeom prst="rect">
            <a:avLst/>
          </a:prstGeom>
          <a:noFill/>
          <a:ln>
            <a:noFill/>
          </a:ln>
        </p:spPr>
      </p:pic>
      <p:sp>
        <p:nvSpPr>
          <p:cNvPr id="56" name="Google Shape;56;p13"/>
          <p:cNvSpPr txBox="1"/>
          <p:nvPr/>
        </p:nvSpPr>
        <p:spPr>
          <a:xfrm>
            <a:off x="25" y="3433000"/>
            <a:ext cx="9144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rgbClr val="274E13"/>
                </a:solidFill>
              </a:rPr>
              <a:t>Introduction to Spring Security</a:t>
            </a:r>
            <a:endParaRPr b="1" sz="2600">
              <a:solidFill>
                <a:srgbClr val="274E1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1000"/>
                                        <p:tgtEl>
                                          <p:spTgt spid="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1000"/>
                                        <p:tgtEl>
                                          <p:spTgt spid="5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0" name="Shape 60"/>
        <p:cNvGrpSpPr/>
        <p:nvPr/>
      </p:nvGrpSpPr>
      <p:grpSpPr>
        <a:xfrm>
          <a:off x="0" y="0"/>
          <a:ext cx="0" cy="0"/>
          <a:chOff x="0" y="0"/>
          <a:chExt cx="0" cy="0"/>
        </a:xfrm>
      </p:grpSpPr>
      <p:sp>
        <p:nvSpPr>
          <p:cNvPr id="61" name="Google Shape;61;p14"/>
          <p:cNvSpPr txBox="1"/>
          <p:nvPr/>
        </p:nvSpPr>
        <p:spPr>
          <a:xfrm>
            <a:off x="588600" y="985225"/>
            <a:ext cx="7966800" cy="2339700"/>
          </a:xfrm>
          <a:prstGeom prst="rect">
            <a:avLst/>
          </a:prstGeom>
          <a:noFill/>
          <a:ln>
            <a:noFill/>
          </a:ln>
        </p:spPr>
        <p:txBody>
          <a:bodyPr anchorCtr="0" anchor="t" bIns="91425" lIns="91425" spcFirstLastPara="1" rIns="91425" wrap="square" tIns="91425">
            <a:spAutoFit/>
          </a:bodyPr>
          <a:lstStyle/>
          <a:p>
            <a:pPr indent="-317500" lvl="0" marL="457200" rtl="0" algn="just">
              <a:spcBef>
                <a:spcPts val="0"/>
              </a:spcBef>
              <a:spcAft>
                <a:spcPts val="0"/>
              </a:spcAft>
              <a:buClr>
                <a:schemeClr val="dk1"/>
              </a:buClr>
              <a:buSzPts val="1400"/>
              <a:buChar char="●"/>
            </a:pPr>
            <a:r>
              <a:rPr lang="en">
                <a:solidFill>
                  <a:schemeClr val="dk1"/>
                </a:solidFill>
              </a:rPr>
              <a:t>Spring Security is a powerful and flexible security framework for Java-based applications.</a:t>
            </a:r>
            <a:endParaRPr>
              <a:solidFill>
                <a:schemeClr val="dk1"/>
              </a:solidFill>
            </a:endParaRPr>
          </a:p>
          <a:p>
            <a:pPr indent="-317500" lvl="0" marL="457200" rtl="0" algn="just">
              <a:spcBef>
                <a:spcPts val="0"/>
              </a:spcBef>
              <a:spcAft>
                <a:spcPts val="0"/>
              </a:spcAft>
              <a:buClr>
                <a:schemeClr val="dk1"/>
              </a:buClr>
              <a:buSzPts val="1400"/>
              <a:buChar char="●"/>
            </a:pPr>
            <a:r>
              <a:rPr lang="en">
                <a:solidFill>
                  <a:schemeClr val="dk1"/>
                </a:solidFill>
              </a:rPr>
              <a:t>It provides </a:t>
            </a:r>
            <a:r>
              <a:rPr b="1" lang="en">
                <a:solidFill>
                  <a:schemeClr val="dk1"/>
                </a:solidFill>
              </a:rPr>
              <a:t>authentication</a:t>
            </a:r>
            <a:r>
              <a:rPr lang="en">
                <a:solidFill>
                  <a:schemeClr val="dk1"/>
                </a:solidFill>
              </a:rPr>
              <a:t>, </a:t>
            </a:r>
            <a:r>
              <a:rPr b="1" lang="en">
                <a:solidFill>
                  <a:schemeClr val="dk1"/>
                </a:solidFill>
              </a:rPr>
              <a:t>authorization</a:t>
            </a:r>
            <a:r>
              <a:rPr lang="en">
                <a:solidFill>
                  <a:schemeClr val="dk1"/>
                </a:solidFill>
              </a:rPr>
              <a:t>, and </a:t>
            </a:r>
            <a:r>
              <a:rPr b="1" lang="en">
                <a:solidFill>
                  <a:schemeClr val="dk1"/>
                </a:solidFill>
              </a:rPr>
              <a:t>session management</a:t>
            </a:r>
            <a:r>
              <a:rPr lang="en">
                <a:solidFill>
                  <a:schemeClr val="dk1"/>
                </a:solidFill>
              </a:rPr>
              <a:t> features.</a:t>
            </a:r>
            <a:endParaRPr>
              <a:solidFill>
                <a:schemeClr val="dk1"/>
              </a:solidFill>
            </a:endParaRPr>
          </a:p>
          <a:p>
            <a:pPr indent="-317500" lvl="0" marL="457200" rtl="0" algn="just">
              <a:spcBef>
                <a:spcPts val="0"/>
              </a:spcBef>
              <a:spcAft>
                <a:spcPts val="0"/>
              </a:spcAft>
              <a:buClr>
                <a:schemeClr val="dk1"/>
              </a:buClr>
              <a:buSzPts val="1400"/>
              <a:buChar char="●"/>
            </a:pPr>
            <a:r>
              <a:rPr lang="en">
                <a:solidFill>
                  <a:schemeClr val="dk1"/>
                </a:solidFill>
              </a:rPr>
              <a:t>Spring Security is widely used in enterprise applications to protect against common security threats.</a:t>
            </a:r>
            <a:endParaRPr>
              <a:solidFill>
                <a:schemeClr val="dk1"/>
              </a:solidFill>
            </a:endParaRPr>
          </a:p>
          <a:p>
            <a:pPr indent="-317500" lvl="1" marL="914400" rtl="0" algn="just">
              <a:spcBef>
                <a:spcPts val="0"/>
              </a:spcBef>
              <a:spcAft>
                <a:spcPts val="0"/>
              </a:spcAft>
              <a:buClr>
                <a:schemeClr val="dk1"/>
              </a:buClr>
              <a:buSzPts val="1400"/>
              <a:buChar char="○"/>
            </a:pPr>
            <a:r>
              <a:rPr lang="en">
                <a:solidFill>
                  <a:schemeClr val="dk1"/>
                </a:solidFill>
              </a:rPr>
              <a:t>Cross-Site Scripting (XSS).</a:t>
            </a:r>
            <a:endParaRPr>
              <a:solidFill>
                <a:schemeClr val="dk1"/>
              </a:solidFill>
            </a:endParaRPr>
          </a:p>
          <a:p>
            <a:pPr indent="-317500" lvl="1" marL="914400" rtl="0" algn="just">
              <a:spcBef>
                <a:spcPts val="0"/>
              </a:spcBef>
              <a:spcAft>
                <a:spcPts val="0"/>
              </a:spcAft>
              <a:buClr>
                <a:schemeClr val="dk1"/>
              </a:buClr>
              <a:buSzPts val="1400"/>
              <a:buChar char="○"/>
            </a:pPr>
            <a:r>
              <a:rPr lang="en">
                <a:solidFill>
                  <a:schemeClr val="dk1"/>
                </a:solidFill>
              </a:rPr>
              <a:t>Cross-Site Request Forgery (CSRF).</a:t>
            </a:r>
            <a:endParaRPr>
              <a:solidFill>
                <a:schemeClr val="dk1"/>
              </a:solidFill>
            </a:endParaRPr>
          </a:p>
          <a:p>
            <a:pPr indent="-317500" lvl="1" marL="914400" rtl="0" algn="just">
              <a:spcBef>
                <a:spcPts val="0"/>
              </a:spcBef>
              <a:spcAft>
                <a:spcPts val="0"/>
              </a:spcAft>
              <a:buClr>
                <a:schemeClr val="dk1"/>
              </a:buClr>
              <a:buSzPts val="1400"/>
              <a:buChar char="○"/>
            </a:pPr>
            <a:r>
              <a:rPr lang="en">
                <a:solidFill>
                  <a:schemeClr val="dk1"/>
                </a:solidFill>
              </a:rPr>
              <a:t>Broken Authentication and Session Management.</a:t>
            </a:r>
            <a:endParaRPr>
              <a:solidFill>
                <a:schemeClr val="dk1"/>
              </a:solidFill>
            </a:endParaRPr>
          </a:p>
          <a:p>
            <a:pPr indent="-317500" lvl="1" marL="914400" rtl="0" algn="just">
              <a:spcBef>
                <a:spcPts val="0"/>
              </a:spcBef>
              <a:spcAft>
                <a:spcPts val="0"/>
              </a:spcAft>
              <a:buClr>
                <a:schemeClr val="dk1"/>
              </a:buClr>
              <a:buSzPts val="1400"/>
              <a:buChar char="○"/>
            </a:pPr>
            <a:r>
              <a:rPr lang="en">
                <a:solidFill>
                  <a:schemeClr val="dk1"/>
                </a:solidFill>
              </a:rPr>
              <a:t>Insufficient Cryptography.</a:t>
            </a:r>
            <a:endParaRPr>
              <a:solidFill>
                <a:schemeClr val="dk1"/>
              </a:solidFill>
            </a:endParaRPr>
          </a:p>
          <a:p>
            <a:pPr indent="-317500" lvl="1" marL="914400" rtl="0" algn="just">
              <a:spcBef>
                <a:spcPts val="0"/>
              </a:spcBef>
              <a:spcAft>
                <a:spcPts val="0"/>
              </a:spcAft>
              <a:buClr>
                <a:schemeClr val="dk1"/>
              </a:buClr>
              <a:buSzPts val="1400"/>
              <a:buChar char="○"/>
            </a:pPr>
            <a:r>
              <a:rPr lang="en">
                <a:solidFill>
                  <a:schemeClr val="dk1"/>
                </a:solidFill>
              </a:rPr>
              <a:t>Malware.</a:t>
            </a:r>
            <a:endParaRPr>
              <a:solidFill>
                <a:schemeClr val="dk1"/>
              </a:solidFill>
            </a:endParaRPr>
          </a:p>
          <a:p>
            <a:pPr indent="-317500" lvl="1" marL="914400" rtl="0" algn="just">
              <a:spcBef>
                <a:spcPts val="0"/>
              </a:spcBef>
              <a:spcAft>
                <a:spcPts val="0"/>
              </a:spcAft>
              <a:buClr>
                <a:schemeClr val="dk1"/>
              </a:buClr>
              <a:buSzPts val="1400"/>
              <a:buChar char="○"/>
            </a:pPr>
            <a:r>
              <a:rPr lang="en">
                <a:solidFill>
                  <a:schemeClr val="dk1"/>
                </a:solidFill>
              </a:rPr>
              <a:t>Denial-of-Service (DoS) and Distributed Denial-of-Service (DDoS) Attacks.</a:t>
            </a:r>
            <a:endParaRPr>
              <a:solidFill>
                <a:schemeClr val="dk1"/>
              </a:solidFill>
            </a:endParaRPr>
          </a:p>
        </p:txBody>
      </p:sp>
      <p:sp>
        <p:nvSpPr>
          <p:cNvPr id="62" name="Google Shape;62;p14"/>
          <p:cNvSpPr txBox="1"/>
          <p:nvPr>
            <p:ph type="title"/>
          </p:nvPr>
        </p:nvSpPr>
        <p:spPr>
          <a:xfrm>
            <a:off x="0" y="412525"/>
            <a:ext cx="91440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1200"/>
              </a:spcAft>
              <a:buNone/>
            </a:pPr>
            <a:r>
              <a:rPr b="1" lang="en" sz="2000"/>
              <a:t>What is Spring Security?</a:t>
            </a:r>
            <a:endParaRPr b="1" sz="2000"/>
          </a:p>
        </p:txBody>
      </p:sp>
      <p:pic>
        <p:nvPicPr>
          <p:cNvPr id="63" name="Google Shape;63;p14"/>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pic>
        <p:nvPicPr>
          <p:cNvPr id="64" name="Google Shape;64;p14"/>
          <p:cNvPicPr preferRelativeResize="0"/>
          <p:nvPr/>
        </p:nvPicPr>
        <p:blipFill rotWithShape="1">
          <a:blip r:embed="rId4">
            <a:alphaModFix/>
          </a:blip>
          <a:srcRect b="33207" l="10289" r="10502" t="33150"/>
          <a:stretch/>
        </p:blipFill>
        <p:spPr>
          <a:xfrm>
            <a:off x="7839900" y="4525"/>
            <a:ext cx="1304100" cy="369174"/>
          </a:xfrm>
          <a:prstGeom prst="rect">
            <a:avLst/>
          </a:prstGeom>
          <a:noFill/>
          <a:ln>
            <a:noFill/>
          </a:ln>
        </p:spPr>
      </p:pic>
      <p:sp>
        <p:nvSpPr>
          <p:cNvPr id="65" name="Google Shape;65;p14"/>
          <p:cNvSpPr txBox="1"/>
          <p:nvPr/>
        </p:nvSpPr>
        <p:spPr>
          <a:xfrm>
            <a:off x="7665125" y="4722400"/>
            <a:ext cx="146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hlinkClick r:id="rId5"/>
              </a:rPr>
              <a:t>documentation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9" name="Shape 69"/>
        <p:cNvGrpSpPr/>
        <p:nvPr/>
      </p:nvGrpSpPr>
      <p:grpSpPr>
        <a:xfrm>
          <a:off x="0" y="0"/>
          <a:ext cx="0" cy="0"/>
          <a:chOff x="0" y="0"/>
          <a:chExt cx="0" cy="0"/>
        </a:xfrm>
      </p:grpSpPr>
      <p:sp>
        <p:nvSpPr>
          <p:cNvPr id="70" name="Google Shape;70;p15"/>
          <p:cNvSpPr txBox="1"/>
          <p:nvPr/>
        </p:nvSpPr>
        <p:spPr>
          <a:xfrm>
            <a:off x="588600" y="985225"/>
            <a:ext cx="7966800" cy="1262100"/>
          </a:xfrm>
          <a:prstGeom prst="rect">
            <a:avLst/>
          </a:prstGeom>
          <a:noFill/>
          <a:ln>
            <a:noFill/>
          </a:ln>
        </p:spPr>
        <p:txBody>
          <a:bodyPr anchorCtr="0" anchor="t" bIns="91425" lIns="91425" spcFirstLastPara="1" rIns="91425" wrap="square" tIns="91425">
            <a:spAutoFit/>
          </a:bodyPr>
          <a:lstStyle/>
          <a:p>
            <a:pPr indent="-317500" lvl="0" marL="457200" rtl="0" algn="just">
              <a:spcBef>
                <a:spcPts val="0"/>
              </a:spcBef>
              <a:spcAft>
                <a:spcPts val="0"/>
              </a:spcAft>
              <a:buClr>
                <a:schemeClr val="dk1"/>
              </a:buClr>
              <a:buSzPts val="1400"/>
              <a:buChar char="●"/>
            </a:pPr>
            <a:r>
              <a:rPr lang="en">
                <a:solidFill>
                  <a:schemeClr val="dk1"/>
                </a:solidFill>
              </a:rPr>
              <a:t>The Spring Security architecture consists of different modules that work together to provide a comprehensive security solution.</a:t>
            </a:r>
            <a:endParaRPr>
              <a:solidFill>
                <a:schemeClr val="dk1"/>
              </a:solidFill>
            </a:endParaRPr>
          </a:p>
          <a:p>
            <a:pPr indent="-317500" lvl="0" marL="457200" rtl="0" algn="just">
              <a:spcBef>
                <a:spcPts val="0"/>
              </a:spcBef>
              <a:spcAft>
                <a:spcPts val="0"/>
              </a:spcAft>
              <a:buClr>
                <a:schemeClr val="dk1"/>
              </a:buClr>
              <a:buSzPts val="1400"/>
              <a:buChar char="●"/>
            </a:pPr>
            <a:r>
              <a:rPr lang="en">
                <a:solidFill>
                  <a:schemeClr val="dk1"/>
                </a:solidFill>
              </a:rPr>
              <a:t>The core module provides basic security features, such as authentication and authorization.</a:t>
            </a:r>
            <a:endParaRPr>
              <a:solidFill>
                <a:schemeClr val="dk1"/>
              </a:solidFill>
            </a:endParaRPr>
          </a:p>
          <a:p>
            <a:pPr indent="-317500" lvl="0" marL="457200" rtl="0" algn="just">
              <a:spcBef>
                <a:spcPts val="0"/>
              </a:spcBef>
              <a:spcAft>
                <a:spcPts val="0"/>
              </a:spcAft>
              <a:buClr>
                <a:schemeClr val="dk1"/>
              </a:buClr>
              <a:buSzPts val="1400"/>
              <a:buChar char="●"/>
            </a:pPr>
            <a:r>
              <a:rPr lang="en">
                <a:solidFill>
                  <a:schemeClr val="dk1"/>
                </a:solidFill>
              </a:rPr>
              <a:t>Other modules extend the core module to support additional features, such as OAuth, OpenID Connect, and more.</a:t>
            </a:r>
            <a:endParaRPr>
              <a:solidFill>
                <a:schemeClr val="dk1"/>
              </a:solidFill>
            </a:endParaRPr>
          </a:p>
        </p:txBody>
      </p:sp>
      <p:sp>
        <p:nvSpPr>
          <p:cNvPr id="71" name="Google Shape;71;p15"/>
          <p:cNvSpPr txBox="1"/>
          <p:nvPr>
            <p:ph type="title"/>
          </p:nvPr>
        </p:nvSpPr>
        <p:spPr>
          <a:xfrm>
            <a:off x="0" y="412525"/>
            <a:ext cx="91440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1200"/>
              </a:spcAft>
              <a:buNone/>
            </a:pPr>
            <a:r>
              <a:rPr b="1" lang="en" sz="2000"/>
              <a:t> Spring Security Architecture</a:t>
            </a:r>
            <a:endParaRPr b="1" sz="2000"/>
          </a:p>
        </p:txBody>
      </p:sp>
      <p:pic>
        <p:nvPicPr>
          <p:cNvPr id="72" name="Google Shape;72;p15"/>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pic>
        <p:nvPicPr>
          <p:cNvPr id="73" name="Google Shape;73;p15"/>
          <p:cNvPicPr preferRelativeResize="0"/>
          <p:nvPr/>
        </p:nvPicPr>
        <p:blipFill rotWithShape="1">
          <a:blip r:embed="rId4">
            <a:alphaModFix/>
          </a:blip>
          <a:srcRect b="33207" l="10289" r="10502" t="33150"/>
          <a:stretch/>
        </p:blipFill>
        <p:spPr>
          <a:xfrm>
            <a:off x="7839900" y="4525"/>
            <a:ext cx="1304100" cy="369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7" name="Shape 77"/>
        <p:cNvGrpSpPr/>
        <p:nvPr/>
      </p:nvGrpSpPr>
      <p:grpSpPr>
        <a:xfrm>
          <a:off x="0" y="0"/>
          <a:ext cx="0" cy="0"/>
          <a:chOff x="0" y="0"/>
          <a:chExt cx="0" cy="0"/>
        </a:xfrm>
      </p:grpSpPr>
      <p:sp>
        <p:nvSpPr>
          <p:cNvPr id="78" name="Google Shape;78;p16"/>
          <p:cNvSpPr txBox="1"/>
          <p:nvPr/>
        </p:nvSpPr>
        <p:spPr>
          <a:xfrm>
            <a:off x="588600" y="985225"/>
            <a:ext cx="7966800" cy="1262100"/>
          </a:xfrm>
          <a:prstGeom prst="rect">
            <a:avLst/>
          </a:prstGeom>
          <a:noFill/>
          <a:ln>
            <a:noFill/>
          </a:ln>
        </p:spPr>
        <p:txBody>
          <a:bodyPr anchorCtr="0" anchor="t" bIns="91425" lIns="91425" spcFirstLastPara="1" rIns="91425" wrap="square" tIns="91425">
            <a:spAutoFit/>
          </a:bodyPr>
          <a:lstStyle/>
          <a:p>
            <a:pPr indent="-317500" lvl="0" marL="457200" rtl="0" algn="just">
              <a:spcBef>
                <a:spcPts val="0"/>
              </a:spcBef>
              <a:spcAft>
                <a:spcPts val="0"/>
              </a:spcAft>
              <a:buClr>
                <a:schemeClr val="dk1"/>
              </a:buClr>
              <a:buSzPts val="1400"/>
              <a:buChar char="●"/>
            </a:pPr>
            <a:r>
              <a:rPr lang="en">
                <a:solidFill>
                  <a:schemeClr val="dk1"/>
                </a:solidFill>
              </a:rPr>
              <a:t>Authentication is the process of </a:t>
            </a:r>
            <a:r>
              <a:rPr b="1" lang="en">
                <a:solidFill>
                  <a:schemeClr val="dk1"/>
                </a:solidFill>
              </a:rPr>
              <a:t>verifying the identity of a user</a:t>
            </a:r>
            <a:r>
              <a:rPr lang="en">
                <a:solidFill>
                  <a:schemeClr val="dk1"/>
                </a:solidFill>
              </a:rPr>
              <a:t>.</a:t>
            </a:r>
            <a:endParaRPr>
              <a:solidFill>
                <a:schemeClr val="dk1"/>
              </a:solidFill>
            </a:endParaRPr>
          </a:p>
          <a:p>
            <a:pPr indent="-317500" lvl="0" marL="457200" rtl="0" algn="just">
              <a:spcBef>
                <a:spcPts val="0"/>
              </a:spcBef>
              <a:spcAft>
                <a:spcPts val="0"/>
              </a:spcAft>
              <a:buClr>
                <a:schemeClr val="dk1"/>
              </a:buClr>
              <a:buSzPts val="1400"/>
              <a:buChar char="●"/>
            </a:pPr>
            <a:r>
              <a:rPr lang="en">
                <a:solidFill>
                  <a:schemeClr val="dk1"/>
                </a:solidFill>
              </a:rPr>
              <a:t>Spring Security supports multiple authentication mechanisms, such as </a:t>
            </a:r>
            <a:r>
              <a:rPr b="1" lang="en">
                <a:solidFill>
                  <a:schemeClr val="dk1"/>
                </a:solidFill>
              </a:rPr>
              <a:t>form-based login</a:t>
            </a:r>
            <a:r>
              <a:rPr lang="en">
                <a:solidFill>
                  <a:schemeClr val="dk1"/>
                </a:solidFill>
              </a:rPr>
              <a:t>, </a:t>
            </a:r>
            <a:r>
              <a:rPr b="1" lang="en">
                <a:solidFill>
                  <a:schemeClr val="dk1"/>
                </a:solidFill>
              </a:rPr>
              <a:t>HTTP basic authentication</a:t>
            </a:r>
            <a:r>
              <a:rPr lang="en">
                <a:solidFill>
                  <a:schemeClr val="dk1"/>
                </a:solidFill>
              </a:rPr>
              <a:t>, and </a:t>
            </a:r>
            <a:r>
              <a:rPr b="1" lang="en">
                <a:solidFill>
                  <a:schemeClr val="dk1"/>
                </a:solidFill>
              </a:rPr>
              <a:t>OAuth</a:t>
            </a:r>
            <a:r>
              <a:rPr lang="en">
                <a:solidFill>
                  <a:schemeClr val="dk1"/>
                </a:solidFill>
              </a:rPr>
              <a:t>.</a:t>
            </a:r>
            <a:endParaRPr>
              <a:solidFill>
                <a:schemeClr val="dk1"/>
              </a:solidFill>
            </a:endParaRPr>
          </a:p>
          <a:p>
            <a:pPr indent="-317500" lvl="0" marL="457200" rtl="0" algn="just">
              <a:spcBef>
                <a:spcPts val="0"/>
              </a:spcBef>
              <a:spcAft>
                <a:spcPts val="0"/>
              </a:spcAft>
              <a:buClr>
                <a:schemeClr val="dk1"/>
              </a:buClr>
              <a:buSzPts val="1400"/>
              <a:buChar char="●"/>
            </a:pPr>
            <a:r>
              <a:rPr lang="en">
                <a:solidFill>
                  <a:schemeClr val="dk1"/>
                </a:solidFill>
              </a:rPr>
              <a:t>You can customize the authentication process using different authentication providers, such as </a:t>
            </a:r>
            <a:r>
              <a:rPr b="1" lang="en">
                <a:solidFill>
                  <a:schemeClr val="dk1"/>
                </a:solidFill>
              </a:rPr>
              <a:t>in-memory</a:t>
            </a:r>
            <a:r>
              <a:rPr lang="en">
                <a:solidFill>
                  <a:schemeClr val="dk1"/>
                </a:solidFill>
              </a:rPr>
              <a:t>, </a:t>
            </a:r>
            <a:r>
              <a:rPr b="1" lang="en">
                <a:solidFill>
                  <a:schemeClr val="dk1"/>
                </a:solidFill>
              </a:rPr>
              <a:t>JDBC</a:t>
            </a:r>
            <a:r>
              <a:rPr lang="en">
                <a:solidFill>
                  <a:schemeClr val="dk1"/>
                </a:solidFill>
              </a:rPr>
              <a:t>, and </a:t>
            </a:r>
            <a:r>
              <a:rPr b="1" lang="en">
                <a:solidFill>
                  <a:schemeClr val="dk1"/>
                </a:solidFill>
              </a:rPr>
              <a:t>LDAP</a:t>
            </a:r>
            <a:r>
              <a:rPr lang="en">
                <a:solidFill>
                  <a:schemeClr val="dk1"/>
                </a:solidFill>
              </a:rPr>
              <a:t>.</a:t>
            </a:r>
            <a:endParaRPr>
              <a:solidFill>
                <a:schemeClr val="dk1"/>
              </a:solidFill>
            </a:endParaRPr>
          </a:p>
        </p:txBody>
      </p:sp>
      <p:sp>
        <p:nvSpPr>
          <p:cNvPr id="79" name="Google Shape;79;p16"/>
          <p:cNvSpPr txBox="1"/>
          <p:nvPr>
            <p:ph type="title"/>
          </p:nvPr>
        </p:nvSpPr>
        <p:spPr>
          <a:xfrm>
            <a:off x="0" y="412525"/>
            <a:ext cx="91440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1200"/>
              </a:spcAft>
              <a:buNone/>
            </a:pPr>
            <a:r>
              <a:rPr b="1" lang="en" sz="2000"/>
              <a:t>Authentication in Spring Security</a:t>
            </a:r>
            <a:endParaRPr b="1" sz="2000"/>
          </a:p>
        </p:txBody>
      </p:sp>
      <p:pic>
        <p:nvPicPr>
          <p:cNvPr id="80" name="Google Shape;80;p16"/>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pic>
        <p:nvPicPr>
          <p:cNvPr id="81" name="Google Shape;81;p16"/>
          <p:cNvPicPr preferRelativeResize="0"/>
          <p:nvPr/>
        </p:nvPicPr>
        <p:blipFill rotWithShape="1">
          <a:blip r:embed="rId4">
            <a:alphaModFix/>
          </a:blip>
          <a:srcRect b="33207" l="10289" r="10502" t="33150"/>
          <a:stretch/>
        </p:blipFill>
        <p:spPr>
          <a:xfrm>
            <a:off x="7839900" y="4525"/>
            <a:ext cx="1304100" cy="369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5" name="Shape 85"/>
        <p:cNvGrpSpPr/>
        <p:nvPr/>
      </p:nvGrpSpPr>
      <p:grpSpPr>
        <a:xfrm>
          <a:off x="0" y="0"/>
          <a:ext cx="0" cy="0"/>
          <a:chOff x="0" y="0"/>
          <a:chExt cx="0" cy="0"/>
        </a:xfrm>
      </p:grpSpPr>
      <p:sp>
        <p:nvSpPr>
          <p:cNvPr id="86" name="Google Shape;86;p17"/>
          <p:cNvSpPr txBox="1"/>
          <p:nvPr/>
        </p:nvSpPr>
        <p:spPr>
          <a:xfrm>
            <a:off x="588600" y="985225"/>
            <a:ext cx="7966800" cy="1477500"/>
          </a:xfrm>
          <a:prstGeom prst="rect">
            <a:avLst/>
          </a:prstGeom>
          <a:noFill/>
          <a:ln>
            <a:noFill/>
          </a:ln>
        </p:spPr>
        <p:txBody>
          <a:bodyPr anchorCtr="0" anchor="t" bIns="91425" lIns="91425" spcFirstLastPara="1" rIns="91425" wrap="square" tIns="91425">
            <a:spAutoFit/>
          </a:bodyPr>
          <a:lstStyle/>
          <a:p>
            <a:pPr indent="-317500" lvl="0" marL="457200" rtl="0" algn="just">
              <a:spcBef>
                <a:spcPts val="0"/>
              </a:spcBef>
              <a:spcAft>
                <a:spcPts val="0"/>
              </a:spcAft>
              <a:buClr>
                <a:schemeClr val="dk1"/>
              </a:buClr>
              <a:buSzPts val="1400"/>
              <a:buChar char="●"/>
            </a:pPr>
            <a:r>
              <a:rPr lang="en">
                <a:solidFill>
                  <a:schemeClr val="dk1"/>
                </a:solidFill>
              </a:rPr>
              <a:t>Authorization is the process of controlling access to resources based on user roles or permissions.</a:t>
            </a:r>
            <a:endParaRPr>
              <a:solidFill>
                <a:schemeClr val="dk1"/>
              </a:solidFill>
            </a:endParaRPr>
          </a:p>
          <a:p>
            <a:pPr indent="-317500" lvl="0" marL="457200" rtl="0" algn="just">
              <a:spcBef>
                <a:spcPts val="0"/>
              </a:spcBef>
              <a:spcAft>
                <a:spcPts val="0"/>
              </a:spcAft>
              <a:buClr>
                <a:schemeClr val="dk1"/>
              </a:buClr>
              <a:buSzPts val="1400"/>
              <a:buChar char="●"/>
            </a:pPr>
            <a:r>
              <a:rPr lang="en">
                <a:solidFill>
                  <a:schemeClr val="dk1"/>
                </a:solidFill>
              </a:rPr>
              <a:t>Spring Security supports </a:t>
            </a:r>
            <a:r>
              <a:rPr b="1" lang="en">
                <a:solidFill>
                  <a:schemeClr val="dk1"/>
                </a:solidFill>
              </a:rPr>
              <a:t>role-based access control</a:t>
            </a:r>
            <a:r>
              <a:rPr lang="en">
                <a:solidFill>
                  <a:schemeClr val="dk1"/>
                </a:solidFill>
              </a:rPr>
              <a:t> (</a:t>
            </a:r>
            <a:r>
              <a:rPr b="1" lang="en">
                <a:solidFill>
                  <a:schemeClr val="dk1"/>
                </a:solidFill>
              </a:rPr>
              <a:t>RBAC</a:t>
            </a:r>
            <a:r>
              <a:rPr lang="en">
                <a:solidFill>
                  <a:schemeClr val="dk1"/>
                </a:solidFill>
              </a:rPr>
              <a:t>) and other types of authorization.</a:t>
            </a:r>
            <a:endParaRPr>
              <a:solidFill>
                <a:schemeClr val="dk1"/>
              </a:solidFill>
            </a:endParaRPr>
          </a:p>
          <a:p>
            <a:pPr indent="-317500" lvl="0" marL="457200" rtl="0" algn="just">
              <a:spcBef>
                <a:spcPts val="0"/>
              </a:spcBef>
              <a:spcAft>
                <a:spcPts val="0"/>
              </a:spcAft>
              <a:buClr>
                <a:schemeClr val="dk1"/>
              </a:buClr>
              <a:buSzPts val="1400"/>
              <a:buChar char="●"/>
            </a:pPr>
            <a:r>
              <a:rPr lang="en">
                <a:solidFill>
                  <a:schemeClr val="dk1"/>
                </a:solidFill>
              </a:rPr>
              <a:t>You can define access control rules using </a:t>
            </a:r>
            <a:r>
              <a:rPr b="1" lang="en">
                <a:solidFill>
                  <a:schemeClr val="dk1"/>
                </a:solidFill>
              </a:rPr>
              <a:t>Spring Security's expression language</a:t>
            </a:r>
            <a:r>
              <a:rPr lang="en">
                <a:solidFill>
                  <a:schemeClr val="dk1"/>
                </a:solidFill>
              </a:rPr>
              <a:t>, which allows you to specify complex rules for controlling access to resources.</a:t>
            </a:r>
            <a:endParaRPr>
              <a:solidFill>
                <a:schemeClr val="dk1"/>
              </a:solidFill>
            </a:endParaRPr>
          </a:p>
        </p:txBody>
      </p:sp>
      <p:sp>
        <p:nvSpPr>
          <p:cNvPr id="87" name="Google Shape;87;p17"/>
          <p:cNvSpPr txBox="1"/>
          <p:nvPr>
            <p:ph type="title"/>
          </p:nvPr>
        </p:nvSpPr>
        <p:spPr>
          <a:xfrm>
            <a:off x="0" y="412525"/>
            <a:ext cx="91440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1200"/>
              </a:spcAft>
              <a:buNone/>
            </a:pPr>
            <a:r>
              <a:rPr b="1" lang="en" sz="2000"/>
              <a:t> Authorization in Spring Security</a:t>
            </a:r>
            <a:endParaRPr b="1" sz="2000"/>
          </a:p>
        </p:txBody>
      </p:sp>
      <p:pic>
        <p:nvPicPr>
          <p:cNvPr id="88" name="Google Shape;88;p17"/>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pic>
        <p:nvPicPr>
          <p:cNvPr id="89" name="Google Shape;89;p17"/>
          <p:cNvPicPr preferRelativeResize="0"/>
          <p:nvPr/>
        </p:nvPicPr>
        <p:blipFill rotWithShape="1">
          <a:blip r:embed="rId4">
            <a:alphaModFix/>
          </a:blip>
          <a:srcRect b="33207" l="10289" r="10502" t="33150"/>
          <a:stretch/>
        </p:blipFill>
        <p:spPr>
          <a:xfrm>
            <a:off x="7839900" y="4525"/>
            <a:ext cx="1304100" cy="3691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3" name="Shape 93"/>
        <p:cNvGrpSpPr/>
        <p:nvPr/>
      </p:nvGrpSpPr>
      <p:grpSpPr>
        <a:xfrm>
          <a:off x="0" y="0"/>
          <a:ext cx="0" cy="0"/>
          <a:chOff x="0" y="0"/>
          <a:chExt cx="0" cy="0"/>
        </a:xfrm>
      </p:grpSpPr>
      <p:sp>
        <p:nvSpPr>
          <p:cNvPr id="94" name="Google Shape;94;p18"/>
          <p:cNvSpPr txBox="1"/>
          <p:nvPr>
            <p:ph type="title"/>
          </p:nvPr>
        </p:nvSpPr>
        <p:spPr>
          <a:xfrm>
            <a:off x="3820025" y="876750"/>
            <a:ext cx="4514100" cy="2701200"/>
          </a:xfrm>
          <a:prstGeom prst="rect">
            <a:avLst/>
          </a:prstGeom>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1800"/>
              <a:t>DelegatingFilterProxy</a:t>
            </a:r>
            <a:endParaRPr b="1" sz="1800"/>
          </a:p>
          <a:p>
            <a:pPr indent="457200" lvl="0" marL="0" rtl="0" algn="just">
              <a:lnSpc>
                <a:spcPct val="115000"/>
              </a:lnSpc>
              <a:spcBef>
                <a:spcPts val="0"/>
              </a:spcBef>
              <a:spcAft>
                <a:spcPts val="1200"/>
              </a:spcAft>
              <a:buNone/>
            </a:pPr>
            <a:r>
              <a:rPr lang="en" sz="1400"/>
              <a:t>Spring provides a Filter implementation named DelegatingFilterProxy that allows bridging between the Servlet container’s lifecycle and Spring’s ApplicationContext. The Servlet container allows registering Filter instances by using its own standards, but it is not aware of Spring-defined Beans. You can register DelegatingFilterProxy through the standard Servlet container mechanisms but delegate all the work to a Spring Bean that implements Filter.</a:t>
            </a:r>
            <a:endParaRPr sz="1400"/>
          </a:p>
        </p:txBody>
      </p:sp>
      <p:pic>
        <p:nvPicPr>
          <p:cNvPr id="95" name="Google Shape;95;p18"/>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pic>
        <p:nvPicPr>
          <p:cNvPr id="96" name="Google Shape;96;p18"/>
          <p:cNvPicPr preferRelativeResize="0"/>
          <p:nvPr/>
        </p:nvPicPr>
        <p:blipFill rotWithShape="1">
          <a:blip r:embed="rId4">
            <a:alphaModFix/>
          </a:blip>
          <a:srcRect b="33207" l="10289" r="10502" t="33150"/>
          <a:stretch/>
        </p:blipFill>
        <p:spPr>
          <a:xfrm>
            <a:off x="7839900" y="4525"/>
            <a:ext cx="1304100" cy="369174"/>
          </a:xfrm>
          <a:prstGeom prst="rect">
            <a:avLst/>
          </a:prstGeom>
          <a:noFill/>
          <a:ln>
            <a:noFill/>
          </a:ln>
        </p:spPr>
      </p:pic>
      <p:pic>
        <p:nvPicPr>
          <p:cNvPr id="97" name="Google Shape;97;p18"/>
          <p:cNvPicPr preferRelativeResize="0"/>
          <p:nvPr/>
        </p:nvPicPr>
        <p:blipFill>
          <a:blip r:embed="rId5">
            <a:alphaModFix/>
          </a:blip>
          <a:stretch>
            <a:fillRect/>
          </a:stretch>
        </p:blipFill>
        <p:spPr>
          <a:xfrm>
            <a:off x="795350" y="822750"/>
            <a:ext cx="2844200" cy="4227100"/>
          </a:xfrm>
          <a:prstGeom prst="rect">
            <a:avLst/>
          </a:prstGeom>
          <a:noFill/>
          <a:ln>
            <a:noFill/>
          </a:ln>
        </p:spPr>
      </p:pic>
      <p:sp>
        <p:nvSpPr>
          <p:cNvPr id="98" name="Google Shape;98;p18"/>
          <p:cNvSpPr txBox="1"/>
          <p:nvPr/>
        </p:nvSpPr>
        <p:spPr>
          <a:xfrm>
            <a:off x="15000" y="373700"/>
            <a:ext cx="911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How Spring Security Works</a:t>
            </a:r>
            <a:endParaRPr b="1"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2" name="Shape 102"/>
        <p:cNvGrpSpPr/>
        <p:nvPr/>
      </p:nvGrpSpPr>
      <p:grpSpPr>
        <a:xfrm>
          <a:off x="0" y="0"/>
          <a:ext cx="0" cy="0"/>
          <a:chOff x="0" y="0"/>
          <a:chExt cx="0" cy="0"/>
        </a:xfrm>
      </p:grpSpPr>
      <p:pic>
        <p:nvPicPr>
          <p:cNvPr id="103" name="Google Shape;103;p19"/>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sp>
        <p:nvSpPr>
          <p:cNvPr id="104" name="Google Shape;104;p19"/>
          <p:cNvSpPr txBox="1"/>
          <p:nvPr>
            <p:ph type="title"/>
          </p:nvPr>
        </p:nvSpPr>
        <p:spPr>
          <a:xfrm>
            <a:off x="3820025" y="876750"/>
            <a:ext cx="4514100" cy="1957800"/>
          </a:xfrm>
          <a:prstGeom prst="rect">
            <a:avLst/>
          </a:prstGeom>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1800"/>
              <a:t>FilterChainProxy</a:t>
            </a:r>
            <a:endParaRPr b="1" sz="1800"/>
          </a:p>
          <a:p>
            <a:pPr indent="457200" lvl="0" marL="0" rtl="0" algn="just">
              <a:lnSpc>
                <a:spcPct val="115000"/>
              </a:lnSpc>
              <a:spcBef>
                <a:spcPts val="0"/>
              </a:spcBef>
              <a:spcAft>
                <a:spcPts val="1200"/>
              </a:spcAft>
              <a:buNone/>
            </a:pPr>
            <a:r>
              <a:rPr lang="en" sz="1400"/>
              <a:t>Spring Security’s Servlet support is contained within FilterChainProxy. FilterChainProxy is a special Filter provided by Spring Security that allows delegating to many Filter instances through </a:t>
            </a:r>
            <a:r>
              <a:rPr b="1" lang="en" sz="1400"/>
              <a:t>SecurityFilterChain</a:t>
            </a:r>
            <a:r>
              <a:rPr lang="en" sz="1400"/>
              <a:t>. Since FilterChainProxy is a Bean, it is typically wrapped in a DelegatingFilterProxy.</a:t>
            </a:r>
            <a:endParaRPr sz="1400"/>
          </a:p>
        </p:txBody>
      </p:sp>
      <p:pic>
        <p:nvPicPr>
          <p:cNvPr id="105" name="Google Shape;105;p19"/>
          <p:cNvPicPr preferRelativeResize="0"/>
          <p:nvPr/>
        </p:nvPicPr>
        <p:blipFill rotWithShape="1">
          <a:blip r:embed="rId4">
            <a:alphaModFix/>
          </a:blip>
          <a:srcRect b="33207" l="10289" r="10502" t="33150"/>
          <a:stretch/>
        </p:blipFill>
        <p:spPr>
          <a:xfrm>
            <a:off x="7839900" y="4525"/>
            <a:ext cx="1304100" cy="369174"/>
          </a:xfrm>
          <a:prstGeom prst="rect">
            <a:avLst/>
          </a:prstGeom>
          <a:noFill/>
          <a:ln>
            <a:noFill/>
          </a:ln>
        </p:spPr>
      </p:pic>
      <p:sp>
        <p:nvSpPr>
          <p:cNvPr id="106" name="Google Shape;106;p19"/>
          <p:cNvSpPr txBox="1"/>
          <p:nvPr/>
        </p:nvSpPr>
        <p:spPr>
          <a:xfrm>
            <a:off x="15000" y="373700"/>
            <a:ext cx="911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How Spring Security Works</a:t>
            </a:r>
            <a:endParaRPr b="1" sz="1800"/>
          </a:p>
        </p:txBody>
      </p:sp>
      <p:pic>
        <p:nvPicPr>
          <p:cNvPr id="107" name="Google Shape;107;p19"/>
          <p:cNvPicPr preferRelativeResize="0"/>
          <p:nvPr/>
        </p:nvPicPr>
        <p:blipFill>
          <a:blip r:embed="rId5">
            <a:alphaModFix/>
          </a:blip>
          <a:stretch>
            <a:fillRect/>
          </a:stretch>
        </p:blipFill>
        <p:spPr>
          <a:xfrm>
            <a:off x="935848" y="822750"/>
            <a:ext cx="5433376" cy="42075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1" name="Shape 111"/>
        <p:cNvGrpSpPr/>
        <p:nvPr/>
      </p:nvGrpSpPr>
      <p:grpSpPr>
        <a:xfrm>
          <a:off x="0" y="0"/>
          <a:ext cx="0" cy="0"/>
          <a:chOff x="0" y="0"/>
          <a:chExt cx="0" cy="0"/>
        </a:xfrm>
      </p:grpSpPr>
      <p:sp>
        <p:nvSpPr>
          <p:cNvPr id="112" name="Google Shape;112;p20"/>
          <p:cNvSpPr txBox="1"/>
          <p:nvPr>
            <p:ph type="title"/>
          </p:nvPr>
        </p:nvSpPr>
        <p:spPr>
          <a:xfrm>
            <a:off x="3654600" y="876750"/>
            <a:ext cx="4947900" cy="895800"/>
          </a:xfrm>
          <a:prstGeom prst="rect">
            <a:avLst/>
          </a:prstGeom>
        </p:spPr>
        <p:txBody>
          <a:bodyPr anchorCtr="0" anchor="t" bIns="91425" lIns="91425" spcFirstLastPara="1" rIns="91425" wrap="square" tIns="91425">
            <a:spAutoFit/>
          </a:bodyPr>
          <a:lstStyle/>
          <a:p>
            <a:pPr indent="457200" lvl="0" marL="0" rtl="0" algn="just">
              <a:lnSpc>
                <a:spcPct val="115000"/>
              </a:lnSpc>
              <a:spcBef>
                <a:spcPts val="0"/>
              </a:spcBef>
              <a:spcAft>
                <a:spcPts val="1200"/>
              </a:spcAft>
              <a:buNone/>
            </a:pPr>
            <a:r>
              <a:rPr b="1" lang="en" sz="1400"/>
              <a:t>SecurityFilterChain</a:t>
            </a:r>
            <a:r>
              <a:rPr lang="en" sz="1400"/>
              <a:t> is used by FilterChainProxy to determine which Spring Security Filter instances should be invoked for the current request.</a:t>
            </a:r>
            <a:endParaRPr sz="1400"/>
          </a:p>
        </p:txBody>
      </p:sp>
      <p:pic>
        <p:nvPicPr>
          <p:cNvPr id="113" name="Google Shape;113;p20"/>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pic>
        <p:nvPicPr>
          <p:cNvPr id="114" name="Google Shape;114;p20"/>
          <p:cNvPicPr preferRelativeResize="0"/>
          <p:nvPr/>
        </p:nvPicPr>
        <p:blipFill rotWithShape="1">
          <a:blip r:embed="rId4">
            <a:alphaModFix/>
          </a:blip>
          <a:srcRect b="33207" l="10289" r="10502" t="33150"/>
          <a:stretch/>
        </p:blipFill>
        <p:spPr>
          <a:xfrm>
            <a:off x="7839900" y="4525"/>
            <a:ext cx="1304100" cy="369174"/>
          </a:xfrm>
          <a:prstGeom prst="rect">
            <a:avLst/>
          </a:prstGeom>
          <a:noFill/>
          <a:ln>
            <a:noFill/>
          </a:ln>
        </p:spPr>
      </p:pic>
      <p:sp>
        <p:nvSpPr>
          <p:cNvPr id="115" name="Google Shape;115;p20"/>
          <p:cNvSpPr txBox="1"/>
          <p:nvPr/>
        </p:nvSpPr>
        <p:spPr>
          <a:xfrm>
            <a:off x="15000" y="373700"/>
            <a:ext cx="911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How Spring Security Works</a:t>
            </a:r>
            <a:endParaRPr b="1" sz="1800"/>
          </a:p>
        </p:txBody>
      </p:sp>
      <p:pic>
        <p:nvPicPr>
          <p:cNvPr id="116" name="Google Shape;116;p20"/>
          <p:cNvPicPr preferRelativeResize="0"/>
          <p:nvPr/>
        </p:nvPicPr>
        <p:blipFill>
          <a:blip r:embed="rId5">
            <a:alphaModFix/>
          </a:blip>
          <a:stretch>
            <a:fillRect/>
          </a:stretch>
        </p:blipFill>
        <p:spPr>
          <a:xfrm>
            <a:off x="903850" y="822750"/>
            <a:ext cx="5722976" cy="42380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0" name="Shape 120"/>
        <p:cNvGrpSpPr/>
        <p:nvPr/>
      </p:nvGrpSpPr>
      <p:grpSpPr>
        <a:xfrm>
          <a:off x="0" y="0"/>
          <a:ext cx="0" cy="0"/>
          <a:chOff x="0" y="0"/>
          <a:chExt cx="0" cy="0"/>
        </a:xfrm>
      </p:grpSpPr>
      <p:sp>
        <p:nvSpPr>
          <p:cNvPr id="121" name="Google Shape;121;p21"/>
          <p:cNvSpPr txBox="1"/>
          <p:nvPr/>
        </p:nvSpPr>
        <p:spPr>
          <a:xfrm>
            <a:off x="588600" y="909025"/>
            <a:ext cx="4610700" cy="2955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200">
                <a:solidFill>
                  <a:srgbClr val="1155CC"/>
                </a:solidFill>
                <a:latin typeface="Montserrat"/>
                <a:ea typeface="Montserrat"/>
                <a:cs typeface="Montserrat"/>
                <a:sym typeface="Montserrat"/>
              </a:rPr>
              <a:t>&lt;dependency&gt;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            &lt;groupId&gt;org.springframework.security&lt;/groupId&gt;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            &lt;artifactId&gt;spring-security-core&lt;/artifactId&gt;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            &lt;version&gt;version&lt;/version&gt;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&lt;/dependency&gt;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&lt;dependency&gt;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            &lt;groupId&gt;org.springframework.security&lt;/groupId&gt;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            &lt;artifactId&gt;spring-security-web&lt;/artifactId&gt;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            &lt;version&gt;</a:t>
            </a:r>
            <a:r>
              <a:rPr lang="en" sz="1200">
                <a:solidFill>
                  <a:srgbClr val="1155CC"/>
                </a:solidFill>
                <a:latin typeface="Montserrat"/>
                <a:ea typeface="Montserrat"/>
                <a:cs typeface="Montserrat"/>
                <a:sym typeface="Montserrat"/>
              </a:rPr>
              <a:t>version</a:t>
            </a:r>
            <a:r>
              <a:rPr lang="en" sz="1200">
                <a:solidFill>
                  <a:srgbClr val="1155CC"/>
                </a:solidFill>
                <a:latin typeface="Montserrat"/>
                <a:ea typeface="Montserrat"/>
                <a:cs typeface="Montserrat"/>
                <a:sym typeface="Montserrat"/>
              </a:rPr>
              <a:t>&lt;/version&gt;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&lt;/dependency&gt;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&lt;dependency&gt;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            &lt;groupId&gt;org.springframework.security&lt;/groupId&gt;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            &lt;artifactId&gt;spring-security-config&lt;/artifactId&gt;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            &lt;version&gt;</a:t>
            </a:r>
            <a:r>
              <a:rPr lang="en" sz="1200">
                <a:solidFill>
                  <a:srgbClr val="1155CC"/>
                </a:solidFill>
                <a:latin typeface="Montserrat"/>
                <a:ea typeface="Montserrat"/>
                <a:cs typeface="Montserrat"/>
                <a:sym typeface="Montserrat"/>
              </a:rPr>
              <a:t>version</a:t>
            </a:r>
            <a:r>
              <a:rPr lang="en" sz="1200">
                <a:solidFill>
                  <a:srgbClr val="1155CC"/>
                </a:solidFill>
                <a:latin typeface="Montserrat"/>
                <a:ea typeface="Montserrat"/>
                <a:cs typeface="Montserrat"/>
                <a:sym typeface="Montserrat"/>
              </a:rPr>
              <a:t>&lt;/version&gt;</a:t>
            </a:r>
            <a:endParaRPr sz="1200">
              <a:solidFill>
                <a:srgbClr val="1155CC"/>
              </a:solidFill>
              <a:latin typeface="Montserrat"/>
              <a:ea typeface="Montserrat"/>
              <a:cs typeface="Montserrat"/>
              <a:sym typeface="Montserrat"/>
            </a:endParaRPr>
          </a:p>
          <a:p>
            <a:pPr indent="0" lvl="0" marL="0" rtl="0" algn="just">
              <a:spcBef>
                <a:spcPts val="0"/>
              </a:spcBef>
              <a:spcAft>
                <a:spcPts val="0"/>
              </a:spcAft>
              <a:buNone/>
            </a:pPr>
            <a:r>
              <a:rPr lang="en" sz="1200">
                <a:solidFill>
                  <a:srgbClr val="1155CC"/>
                </a:solidFill>
                <a:latin typeface="Montserrat"/>
                <a:ea typeface="Montserrat"/>
                <a:cs typeface="Montserrat"/>
                <a:sym typeface="Montserrat"/>
              </a:rPr>
              <a:t>&lt;/dependency&gt;</a:t>
            </a:r>
            <a:endParaRPr sz="1200">
              <a:solidFill>
                <a:srgbClr val="1155CC"/>
              </a:solidFill>
              <a:latin typeface="Montserrat"/>
              <a:ea typeface="Montserrat"/>
              <a:cs typeface="Montserrat"/>
              <a:sym typeface="Montserrat"/>
            </a:endParaRPr>
          </a:p>
        </p:txBody>
      </p:sp>
      <p:sp>
        <p:nvSpPr>
          <p:cNvPr id="122" name="Google Shape;122;p21"/>
          <p:cNvSpPr txBox="1"/>
          <p:nvPr>
            <p:ph type="title"/>
          </p:nvPr>
        </p:nvSpPr>
        <p:spPr>
          <a:xfrm>
            <a:off x="0" y="412525"/>
            <a:ext cx="91440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1200"/>
              </a:spcAft>
              <a:buNone/>
            </a:pPr>
            <a:r>
              <a:rPr b="1" lang="en" sz="2000"/>
              <a:t>Spring Security Dependencies</a:t>
            </a:r>
            <a:endParaRPr b="1" sz="2000"/>
          </a:p>
        </p:txBody>
      </p:sp>
      <p:pic>
        <p:nvPicPr>
          <p:cNvPr id="123" name="Google Shape;123;p21"/>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pic>
        <p:nvPicPr>
          <p:cNvPr id="124" name="Google Shape;124;p21"/>
          <p:cNvPicPr preferRelativeResize="0"/>
          <p:nvPr/>
        </p:nvPicPr>
        <p:blipFill rotWithShape="1">
          <a:blip r:embed="rId4">
            <a:alphaModFix/>
          </a:blip>
          <a:srcRect b="33207" l="10289" r="10502" t="33150"/>
          <a:stretch/>
        </p:blipFill>
        <p:spPr>
          <a:xfrm>
            <a:off x="7839900" y="4525"/>
            <a:ext cx="1304100" cy="369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8" name="Shape 128"/>
        <p:cNvGrpSpPr/>
        <p:nvPr/>
      </p:nvGrpSpPr>
      <p:grpSpPr>
        <a:xfrm>
          <a:off x="0" y="0"/>
          <a:ext cx="0" cy="0"/>
          <a:chOff x="0" y="0"/>
          <a:chExt cx="0" cy="0"/>
        </a:xfrm>
      </p:grpSpPr>
      <p:pic>
        <p:nvPicPr>
          <p:cNvPr id="129" name="Google Shape;129;p22"/>
          <p:cNvPicPr preferRelativeResize="0"/>
          <p:nvPr/>
        </p:nvPicPr>
        <p:blipFill rotWithShape="1">
          <a:blip r:embed="rId3">
            <a:alphaModFix/>
          </a:blip>
          <a:srcRect b="31095" l="0" r="0" t="33150"/>
          <a:stretch/>
        </p:blipFill>
        <p:spPr>
          <a:xfrm>
            <a:off x="19050" y="4525"/>
            <a:ext cx="1304100" cy="466275"/>
          </a:xfrm>
          <a:prstGeom prst="rect">
            <a:avLst/>
          </a:prstGeom>
          <a:noFill/>
          <a:ln>
            <a:noFill/>
          </a:ln>
        </p:spPr>
      </p:pic>
      <p:pic>
        <p:nvPicPr>
          <p:cNvPr id="130" name="Google Shape;130;p22"/>
          <p:cNvPicPr preferRelativeResize="0"/>
          <p:nvPr/>
        </p:nvPicPr>
        <p:blipFill rotWithShape="1">
          <a:blip r:embed="rId4">
            <a:alphaModFix/>
          </a:blip>
          <a:srcRect b="33207" l="10289" r="10502" t="33150"/>
          <a:stretch/>
        </p:blipFill>
        <p:spPr>
          <a:xfrm>
            <a:off x="7839900" y="4525"/>
            <a:ext cx="1304100" cy="369174"/>
          </a:xfrm>
          <a:prstGeom prst="rect">
            <a:avLst/>
          </a:prstGeom>
          <a:noFill/>
          <a:ln>
            <a:noFill/>
          </a:ln>
        </p:spPr>
      </p:pic>
      <p:pic>
        <p:nvPicPr>
          <p:cNvPr id="131" name="Google Shape;131;p22"/>
          <p:cNvPicPr preferRelativeResize="0"/>
          <p:nvPr/>
        </p:nvPicPr>
        <p:blipFill>
          <a:blip r:embed="rId5">
            <a:alphaModFix/>
          </a:blip>
          <a:stretch>
            <a:fillRect/>
          </a:stretch>
        </p:blipFill>
        <p:spPr>
          <a:xfrm>
            <a:off x="2456429" y="4525"/>
            <a:ext cx="3898771"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5" name="Shape 135"/>
        <p:cNvGrpSpPr/>
        <p:nvPr/>
      </p:nvGrpSpPr>
      <p:grpSpPr>
        <a:xfrm>
          <a:off x="0" y="0"/>
          <a:ext cx="0" cy="0"/>
          <a:chOff x="0" y="0"/>
          <a:chExt cx="0" cy="0"/>
        </a:xfrm>
      </p:grpSpPr>
      <p:sp>
        <p:nvSpPr>
          <p:cNvPr id="136" name="Google Shape;136;p23"/>
          <p:cNvSpPr txBox="1"/>
          <p:nvPr>
            <p:ph type="title"/>
          </p:nvPr>
        </p:nvSpPr>
        <p:spPr>
          <a:xfrm>
            <a:off x="0" y="2285400"/>
            <a:ext cx="91440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1200"/>
              </a:spcAft>
              <a:buNone/>
            </a:pPr>
            <a:r>
              <a:rPr b="1" lang="en" sz="2600" u="sng">
                <a:solidFill>
                  <a:schemeClr val="hlink"/>
                </a:solidFill>
                <a:hlinkClick r:id="rId3"/>
              </a:rPr>
              <a:t>Interview Questions</a:t>
            </a:r>
            <a:endParaRPr b="1" sz="2600">
              <a:solidFill>
                <a:srgbClr val="1155CC"/>
              </a:solidFill>
            </a:endParaRPr>
          </a:p>
        </p:txBody>
      </p:sp>
      <p:pic>
        <p:nvPicPr>
          <p:cNvPr id="137" name="Google Shape;137;p23"/>
          <p:cNvPicPr preferRelativeResize="0"/>
          <p:nvPr/>
        </p:nvPicPr>
        <p:blipFill rotWithShape="1">
          <a:blip r:embed="rId4">
            <a:alphaModFix/>
          </a:blip>
          <a:srcRect b="31095" l="0" r="0" t="33150"/>
          <a:stretch/>
        </p:blipFill>
        <p:spPr>
          <a:xfrm>
            <a:off x="19050" y="4525"/>
            <a:ext cx="1304100" cy="466275"/>
          </a:xfrm>
          <a:prstGeom prst="rect">
            <a:avLst/>
          </a:prstGeom>
          <a:noFill/>
          <a:ln>
            <a:noFill/>
          </a:ln>
        </p:spPr>
      </p:pic>
      <p:pic>
        <p:nvPicPr>
          <p:cNvPr id="138" name="Google Shape;138;p23"/>
          <p:cNvPicPr preferRelativeResize="0"/>
          <p:nvPr/>
        </p:nvPicPr>
        <p:blipFill rotWithShape="1">
          <a:blip r:embed="rId5">
            <a:alphaModFix/>
          </a:blip>
          <a:srcRect b="33207" l="10289" r="10502" t="33150"/>
          <a:stretch/>
        </p:blipFill>
        <p:spPr>
          <a:xfrm>
            <a:off x="7839900" y="4525"/>
            <a:ext cx="1304100" cy="3691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